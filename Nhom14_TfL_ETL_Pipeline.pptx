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0E14F-795C-D800-D79B-D0ADA010BA56}" v="2" dt="2026-05-27T17:28:28.490"/>
    <p1510:client id="{4731C50A-BC8F-7CB6-6929-38056ED13F64}" v="176" dt="2026-05-27T17:34:52.125"/>
    <p1510:client id="{62F71BEC-CEF8-36B8-753B-B56C97C9CC80}" v="13" dt="2026-05-27T16:11:02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0" cy="8229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47472" y="544547"/>
            <a:ext cx="640080" cy="640080"/>
          </a:xfrm>
          <a:prstGeom prst="ellipse">
            <a:avLst/>
          </a:prstGeom>
          <a:solidFill>
            <a:srgbClr val="DC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0336" y="704741"/>
            <a:ext cx="652640" cy="3077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TfL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325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4B4"/>
                </a:solidFill>
                <a:latin typeface="Calibri"/>
              </a:rPr>
              <a:t>ĐỒ ÁN MÔN HỌC  |  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7373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XÂY DỰNG PIPELINE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5146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END-TO-END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15468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4B4"/>
                </a:solidFill>
                <a:latin typeface="Calibri"/>
              </a:rPr>
              <a:t>PHÂN TÍCH DỮ LIỆU KHÔNG GIAN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76732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4B4"/>
                </a:solidFill>
                <a:latin typeface="Calibri"/>
              </a:rPr>
              <a:t>THỜI GIAN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3891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AEC0"/>
                </a:solidFill>
                <a:latin typeface="Calibri"/>
              </a:rPr>
              <a:t>Hệ thống Nhà ga Transport for London (TfL)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4828032"/>
            <a:ext cx="2286000" cy="3657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495604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👥  Nhóm 14 – DHKHDL20A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530352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👨‍🏫  GVHD: TS. Lê Trọng Ngọc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565099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📅  Năm học: 2024 –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0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859536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1719072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2578608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3438144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0" y="4297679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0" y="5157216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0" y="6016752"/>
            <a:ext cx="560527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88352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93024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97696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02368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607040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11712" y="0"/>
            <a:ext cx="9144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2400" y="1645920"/>
            <a:ext cx="2926080" cy="292608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29600" y="2103120"/>
            <a:ext cx="2011680" cy="20116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589520" y="2926080"/>
            <a:ext cx="3291840" cy="411480"/>
          </a:xfrm>
          <a:prstGeom prst="rect">
            <a:avLst/>
          </a:prstGeom>
          <a:solidFill>
            <a:srgbClr val="DC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2962656"/>
            <a:ext cx="329184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LONDON UNDERGROUND</a:t>
            </a:r>
            <a:endParaRPr lang="vi-VN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78240" y="228600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C4B4"/>
                </a:solidFill>
                <a:latin typeface="Segoe UI Emoji"/>
              </a:rPr>
              <a:t>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4846320"/>
            <a:ext cx="2286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22592" y="48828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B4"/>
                </a:solidFill>
                <a:latin typeface="Calibri"/>
              </a:rPr>
              <a:t>298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5212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Nhà 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846320"/>
            <a:ext cx="2286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74352" y="48828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B4"/>
                </a:solidFill>
                <a:latin typeface="Calibri"/>
              </a:rPr>
              <a:t>5 năm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5212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2017 – 2021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5669280"/>
            <a:ext cx="2286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22592" y="5705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B4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6035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Nguồn dữ liệu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5669280"/>
            <a:ext cx="2286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57058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4B4"/>
                </a:solidFill>
                <a:latin typeface="Calibri"/>
              </a:rPr>
              <a:t>K=6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74352" y="6035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Cụm KMeans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0137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LỜI MỞ ĐẦU &amp; TÓM TẮT DỰ 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358" y="1042008"/>
            <a:ext cx="5394960" cy="3911505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2950" y="1133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📌  BỐI CẢNH &amp; MỤC TIÊU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950" y="1590648"/>
            <a:ext cx="5103577" cy="32689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latin typeface="Calibri"/>
              </a:rPr>
              <a:t>• TfL London </a:t>
            </a:r>
            <a:r>
              <a:rPr sz="1300" dirty="0" err="1">
                <a:latin typeface="Calibri"/>
              </a:rPr>
              <a:t>vận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hành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mạng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lưới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giao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thông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lớn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nhất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châu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Âu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với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hàng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triệu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hành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khách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mỗi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ngày</a:t>
            </a:r>
            <a:r>
              <a:rPr sz="1300" dirty="0">
                <a:latin typeface="Calibri"/>
              </a:rPr>
              <a:t>.</a:t>
            </a:r>
            <a:endParaRPr lang="vi-VN" sz="1300" dirty="0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dirty="0">
                <a:latin typeface="Calibri"/>
              </a:rPr>
              <a:t>• </a:t>
            </a:r>
            <a:r>
              <a:rPr sz="1300" dirty="0" err="1">
                <a:latin typeface="Calibri"/>
              </a:rPr>
              <a:t>Bùng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phát</a:t>
            </a:r>
            <a:r>
              <a:rPr sz="1300" dirty="0">
                <a:latin typeface="Calibri"/>
              </a:rPr>
              <a:t> COVID-19 (2020) </a:t>
            </a:r>
            <a:r>
              <a:rPr sz="1300" dirty="0" err="1">
                <a:latin typeface="Calibri"/>
              </a:rPr>
              <a:t>gây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biến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động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lớn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về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lưu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lượng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hành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khách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tại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tất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cả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các</a:t>
            </a:r>
            <a:r>
              <a:rPr sz="1300" dirty="0">
                <a:latin typeface="Calibri"/>
              </a:rPr>
              <a:t> ga.</a:t>
            </a:r>
            <a:endParaRPr sz="1300" dirty="0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dirty="0">
                <a:latin typeface="Calibri"/>
              </a:rPr>
              <a:t>• Nhu </a:t>
            </a:r>
            <a:r>
              <a:rPr sz="1300" dirty="0" err="1">
                <a:latin typeface="Calibri"/>
              </a:rPr>
              <a:t>cầu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phân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tích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không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gian</a:t>
            </a:r>
            <a:r>
              <a:rPr sz="1300" dirty="0">
                <a:latin typeface="Calibri"/>
              </a:rPr>
              <a:t> – </a:t>
            </a:r>
            <a:r>
              <a:rPr sz="1300" dirty="0" err="1">
                <a:latin typeface="Calibri"/>
              </a:rPr>
              <a:t>thời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gian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để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đưa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ra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quyết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định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vận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hành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chính</a:t>
            </a:r>
            <a:r>
              <a:rPr sz="1300" dirty="0">
                <a:latin typeface="Calibri"/>
              </a:rPr>
              <a:t> </a:t>
            </a:r>
            <a:r>
              <a:rPr sz="1300" dirty="0" err="1">
                <a:latin typeface="Calibri"/>
              </a:rPr>
              <a:t>xác</a:t>
            </a:r>
            <a:r>
              <a:rPr sz="1300" dirty="0">
                <a:latin typeface="Calibri"/>
              </a:rPr>
              <a:t>.</a:t>
            </a:r>
            <a:endParaRPr sz="1300" dirty="0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endParaRPr sz="1300" dirty="0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b="1" dirty="0">
                <a:latin typeface="Calibri"/>
              </a:rPr>
              <a:t>🎯  </a:t>
            </a:r>
            <a:r>
              <a:rPr sz="1300" b="1" dirty="0" err="1">
                <a:latin typeface="Calibri"/>
              </a:rPr>
              <a:t>Mục</a:t>
            </a:r>
            <a:r>
              <a:rPr sz="1300" b="1" dirty="0">
                <a:latin typeface="Calibri"/>
              </a:rPr>
              <a:t> </a:t>
            </a:r>
            <a:r>
              <a:rPr sz="1300" b="1" dirty="0" err="1">
                <a:latin typeface="Calibri"/>
              </a:rPr>
              <a:t>tiêu</a:t>
            </a:r>
            <a:r>
              <a:rPr sz="1300" b="1" dirty="0">
                <a:latin typeface="Calibri"/>
              </a:rPr>
              <a:t>:</a:t>
            </a:r>
            <a:endParaRPr sz="1300" b="1" dirty="0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b="0" dirty="0">
                <a:latin typeface="Calibri"/>
              </a:rPr>
              <a:t>  ➤  Xây </a:t>
            </a:r>
            <a:r>
              <a:rPr sz="1300" b="0" dirty="0" err="1">
                <a:latin typeface="Calibri"/>
              </a:rPr>
              <a:t>dựng</a:t>
            </a:r>
            <a:r>
              <a:rPr sz="1300" b="0" dirty="0">
                <a:latin typeface="Calibri"/>
              </a:rPr>
              <a:t> Pipeline ETL </a:t>
            </a:r>
            <a:r>
              <a:rPr sz="1300" b="0" dirty="0" err="1">
                <a:latin typeface="Calibri"/>
              </a:rPr>
              <a:t>tự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động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hóa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hoàn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chỉnh</a:t>
            </a:r>
            <a:endParaRPr sz="1300" b="0" dirty="0" err="1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b="0" dirty="0">
                <a:latin typeface="Calibri"/>
              </a:rPr>
              <a:t>  ➤  </a:t>
            </a:r>
            <a:r>
              <a:rPr sz="1300" b="0" dirty="0" err="1">
                <a:latin typeface="Calibri"/>
              </a:rPr>
              <a:t>Tích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hợp</a:t>
            </a:r>
            <a:r>
              <a:rPr sz="1300" b="0" dirty="0">
                <a:latin typeface="Calibri"/>
              </a:rPr>
              <a:t> 3 </a:t>
            </a:r>
            <a:r>
              <a:rPr sz="1300" b="0" dirty="0" err="1">
                <a:latin typeface="Calibri"/>
              </a:rPr>
              <a:t>nguồn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dữ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liệu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dị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biệt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thành</a:t>
            </a:r>
            <a:r>
              <a:rPr sz="1300" b="0" dirty="0">
                <a:latin typeface="Calibri"/>
              </a:rPr>
              <a:t> CSDL </a:t>
            </a:r>
            <a:r>
              <a:rPr sz="1300" b="0" dirty="0" err="1">
                <a:latin typeface="Calibri"/>
              </a:rPr>
              <a:t>thống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nhất</a:t>
            </a:r>
            <a:endParaRPr sz="1300" b="0" dirty="0" err="1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b="0" dirty="0">
                <a:latin typeface="Calibri"/>
              </a:rPr>
              <a:t>  ➤  </a:t>
            </a:r>
            <a:r>
              <a:rPr sz="1300" b="0" dirty="0" err="1">
                <a:latin typeface="Calibri"/>
              </a:rPr>
              <a:t>Phân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cụm</a:t>
            </a:r>
            <a:r>
              <a:rPr sz="1300" b="0" dirty="0">
                <a:latin typeface="Calibri"/>
              </a:rPr>
              <a:t> (</a:t>
            </a:r>
            <a:r>
              <a:rPr sz="1300" b="0" dirty="0" err="1">
                <a:latin typeface="Calibri"/>
              </a:rPr>
              <a:t>KMeans</a:t>
            </a:r>
            <a:r>
              <a:rPr sz="1300" b="0" dirty="0">
                <a:latin typeface="Calibri"/>
              </a:rPr>
              <a:t>) </a:t>
            </a:r>
            <a:r>
              <a:rPr sz="1300" b="0" dirty="0" err="1">
                <a:latin typeface="Calibri"/>
              </a:rPr>
              <a:t>hành</a:t>
            </a:r>
            <a:r>
              <a:rPr sz="1300" b="0" dirty="0">
                <a:latin typeface="Calibri"/>
              </a:rPr>
              <a:t> vi </a:t>
            </a:r>
            <a:r>
              <a:rPr sz="1300" b="0" dirty="0" err="1">
                <a:latin typeface="Calibri"/>
              </a:rPr>
              <a:t>hành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khách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theo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không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gian</a:t>
            </a:r>
            <a:endParaRPr sz="1300" b="0" dirty="0" err="1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b="0" dirty="0">
                <a:latin typeface="Calibri"/>
              </a:rPr>
              <a:t>  ➤  Phân </a:t>
            </a:r>
            <a:r>
              <a:rPr sz="1300" b="0" dirty="0" err="1">
                <a:latin typeface="Calibri"/>
              </a:rPr>
              <a:t>tích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tác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động</a:t>
            </a:r>
            <a:r>
              <a:rPr sz="1300" b="0" dirty="0">
                <a:latin typeface="Calibri"/>
              </a:rPr>
              <a:t> COVID-19 </a:t>
            </a:r>
            <a:r>
              <a:rPr sz="1300" b="0" dirty="0" err="1">
                <a:latin typeface="Calibri"/>
              </a:rPr>
              <a:t>và</a:t>
            </a:r>
            <a:r>
              <a:rPr sz="1300" b="0" dirty="0">
                <a:latin typeface="Calibri"/>
              </a:rPr>
              <a:t> xu </a:t>
            </a:r>
            <a:r>
              <a:rPr sz="1300" b="0" dirty="0" err="1">
                <a:latin typeface="Calibri"/>
              </a:rPr>
              <a:t>hướng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phục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hồi</a:t>
            </a:r>
            <a:endParaRPr sz="1300" b="0" dirty="0" err="1">
              <a:latin typeface="Calibri"/>
              <a:ea typeface="Calibri"/>
              <a:cs typeface="Calibri"/>
            </a:endParaRPr>
          </a:p>
          <a:p>
            <a:pPr>
              <a:spcBef>
                <a:spcPts val="400"/>
              </a:spcBef>
            </a:pPr>
            <a:r>
              <a:rPr sz="1300" b="0" dirty="0">
                <a:latin typeface="Calibri"/>
              </a:rPr>
              <a:t>  ➤  </a:t>
            </a:r>
            <a:r>
              <a:rPr sz="1300" b="0" dirty="0" err="1">
                <a:latin typeface="Calibri"/>
              </a:rPr>
              <a:t>Trực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quan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hóa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tương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tác</a:t>
            </a:r>
            <a:r>
              <a:rPr sz="1300" b="0" dirty="0">
                <a:latin typeface="Calibri"/>
              </a:rPr>
              <a:t> (Folium Map, </a:t>
            </a:r>
            <a:r>
              <a:rPr sz="1300" b="0" dirty="0" err="1">
                <a:latin typeface="Calibri"/>
              </a:rPr>
              <a:t>biểu</a:t>
            </a:r>
            <a:r>
              <a:rPr sz="1300" b="0" dirty="0">
                <a:latin typeface="Calibri"/>
              </a:rPr>
              <a:t> </a:t>
            </a:r>
            <a:r>
              <a:rPr sz="1300" b="0" dirty="0" err="1">
                <a:latin typeface="Calibri"/>
              </a:rPr>
              <a:t>đồ</a:t>
            </a:r>
            <a:r>
              <a:rPr sz="1300" b="0" dirty="0">
                <a:latin typeface="Calibri"/>
              </a:rPr>
              <a:t>)</a:t>
            </a:r>
            <a:endParaRPr sz="1300" b="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" name="Nhóm 4">
            <a:extLst>
              <a:ext uri="{FF2B5EF4-FFF2-40B4-BE49-F238E27FC236}">
                <a16:creationId xmlns:a16="http://schemas.microsoft.com/office/drawing/2014/main" id="{4C624604-60D1-7190-BB30-64ADBAECF958}"/>
              </a:ext>
            </a:extLst>
          </p:cNvPr>
          <p:cNvGrpSpPr/>
          <p:nvPr/>
        </p:nvGrpSpPr>
        <p:grpSpPr>
          <a:xfrm>
            <a:off x="6644349" y="1051560"/>
            <a:ext cx="5444018" cy="3621024"/>
            <a:chOff x="6090312" y="1051560"/>
            <a:chExt cx="5444018" cy="3621024"/>
          </a:xfrm>
        </p:grpSpPr>
        <p:sp>
          <p:nvSpPr>
            <p:cNvPr id="12" name="Rectangle 11"/>
            <p:cNvSpPr/>
            <p:nvPr/>
          </p:nvSpPr>
          <p:spPr>
            <a:xfrm>
              <a:off x="6090312" y="1051560"/>
              <a:ext cx="2205569" cy="1097280"/>
            </a:xfrm>
            <a:prstGeom prst="rect">
              <a:avLst/>
            </a:prstGeom>
            <a:solidFill>
              <a:srgbClr val="0F172A"/>
            </a:solidFill>
            <a:ln w="1905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1161288"/>
              <a:ext cx="457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i="0">
                  <a:solidFill>
                    <a:srgbClr val="00C4B4"/>
                  </a:solidFill>
                  <a:latin typeface="Segoe UI Emoji"/>
                </a:rPr>
                <a:t>🚉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75120" y="1161288"/>
              <a:ext cx="21945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94A3B8"/>
                  </a:solidFill>
                  <a:latin typeface="Calibri"/>
                </a:rPr>
                <a:t>Nhà ga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75120" y="1463040"/>
              <a:ext cx="21945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FFFFFF"/>
                  </a:solidFill>
                  <a:latin typeface="Calibri"/>
                </a:rPr>
                <a:t>298 ga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745410" y="1051560"/>
              <a:ext cx="2196017" cy="1097280"/>
            </a:xfrm>
            <a:prstGeom prst="rect">
              <a:avLst/>
            </a:prstGeom>
            <a:solidFill>
              <a:srgbClr val="0F172A"/>
            </a:solidFill>
            <a:ln w="1905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82570" y="1161288"/>
              <a:ext cx="457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i="0">
                  <a:solidFill>
                    <a:srgbClr val="00C4B4"/>
                  </a:solidFill>
                  <a:latin typeface="Segoe UI Emoji"/>
                </a:rPr>
                <a:t>📅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39770" y="1161288"/>
              <a:ext cx="21945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94A3B8"/>
                  </a:solidFill>
                  <a:latin typeface="Calibri"/>
                </a:rPr>
                <a:t>Giai đoạn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39770" y="1463040"/>
              <a:ext cx="21945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FFFFFF"/>
                  </a:solidFill>
                  <a:latin typeface="Calibri"/>
                </a:rPr>
                <a:t>2017 – 2021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090312" y="2313432"/>
              <a:ext cx="2205569" cy="1116383"/>
            </a:xfrm>
            <a:prstGeom prst="rect">
              <a:avLst/>
            </a:prstGeom>
            <a:solidFill>
              <a:srgbClr val="0F172A"/>
            </a:solidFill>
            <a:ln w="1905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17920" y="2423160"/>
              <a:ext cx="457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i="0">
                  <a:solidFill>
                    <a:srgbClr val="00C4B4"/>
                  </a:solidFill>
                  <a:latin typeface="Segoe UI Emoji"/>
                </a:rPr>
                <a:t>🗄️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75120" y="2423160"/>
              <a:ext cx="21945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94A3B8"/>
                  </a:solidFill>
                  <a:latin typeface="Calibri"/>
                </a:rPr>
                <a:t>Nguồn dữ liệu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75120" y="2724912"/>
              <a:ext cx="21945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FFFFFF"/>
                  </a:solidFill>
                  <a:latin typeface="Calibri"/>
                </a:rPr>
                <a:t>3 nguồn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745410" y="2313432"/>
              <a:ext cx="2205569" cy="1116383"/>
            </a:xfrm>
            <a:prstGeom prst="rect">
              <a:avLst/>
            </a:prstGeom>
            <a:solidFill>
              <a:srgbClr val="0F172A"/>
            </a:solidFill>
            <a:ln w="1905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82570" y="2423160"/>
              <a:ext cx="457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i="0">
                  <a:solidFill>
                    <a:srgbClr val="00C4B4"/>
                  </a:solidFill>
                  <a:latin typeface="Segoe UI Emoji"/>
                </a:rPr>
                <a:t>🤖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339770" y="2423160"/>
              <a:ext cx="21945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94A3B8"/>
                  </a:solidFill>
                  <a:latin typeface="Calibri"/>
                </a:rPr>
                <a:t>Thuật toán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339770" y="2724912"/>
              <a:ext cx="21945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FFFFFF"/>
                  </a:solidFill>
                  <a:latin typeface="Calibri"/>
                </a:rPr>
                <a:t>KMeans K=6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090312" y="3575304"/>
              <a:ext cx="2205569" cy="1097280"/>
            </a:xfrm>
            <a:prstGeom prst="rect">
              <a:avLst/>
            </a:prstGeom>
            <a:solidFill>
              <a:srgbClr val="0F172A"/>
            </a:solidFill>
            <a:ln w="1905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17920" y="3685032"/>
              <a:ext cx="457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i="0">
                  <a:solidFill>
                    <a:srgbClr val="00C4B4"/>
                  </a:solidFill>
                  <a:latin typeface="Segoe UI Emoji"/>
                </a:rPr>
                <a:t>🗺️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75120" y="3685032"/>
              <a:ext cx="21945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94A3B8"/>
                  </a:solidFill>
                  <a:latin typeface="Calibri"/>
                </a:rPr>
                <a:t>Sản phẩm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75120" y="3986784"/>
              <a:ext cx="21945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FFFFFF"/>
                  </a:solidFill>
                  <a:latin typeface="Calibri"/>
                </a:rPr>
                <a:t>Folium Map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745410" y="3575304"/>
              <a:ext cx="2205569" cy="1097280"/>
            </a:xfrm>
            <a:prstGeom prst="rect">
              <a:avLst/>
            </a:prstGeom>
            <a:solidFill>
              <a:srgbClr val="0F172A"/>
            </a:solidFill>
            <a:ln w="1905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82570" y="3685032"/>
              <a:ext cx="457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0" i="0">
                  <a:solidFill>
                    <a:srgbClr val="00C4B4"/>
                  </a:solidFill>
                  <a:latin typeface="Segoe UI Emoji"/>
                </a:rPr>
                <a:t>📊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339770" y="3685032"/>
              <a:ext cx="21945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94A3B8"/>
                  </a:solidFill>
                  <a:latin typeface="Calibri"/>
                </a:rPr>
                <a:t>Kết quả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339770" y="3986784"/>
              <a:ext cx="219456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FFFFFF"/>
                  </a:solidFill>
                  <a:latin typeface="Calibri"/>
                </a:rPr>
                <a:t>-63.21% COVID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0137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LÝ DO CHỌN ĐỀ TÀI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394960" cy="2011680"/>
          </a:xfrm>
          <a:prstGeom prst="rect">
            <a:avLst/>
          </a:prstGeom>
          <a:solidFill>
            <a:srgbClr val="1E293B"/>
          </a:solidFill>
          <a:ln w="2286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8912" y="1280160"/>
            <a:ext cx="594360" cy="5943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4B4"/>
                </a:solidFill>
                <a:latin typeface="Segoe UI Emoji"/>
              </a:rPr>
              <a:t>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527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4"/>
                </a:solidFill>
                <a:latin typeface="Calibri"/>
              </a:rPr>
              <a:t>Mạng lưới TfL cực kỳ phức tạp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248" y="1881425"/>
            <a:ext cx="5102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270+ tuyến, 11 loại dịch vụ, dữ liệu hành khách từ nhiều hệ thống khác nhau. Cần giải pháp ETL tích hợp toàn diện.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5394960" cy="2011680"/>
          </a:xfrm>
          <a:prstGeom prst="rect">
            <a:avLst/>
          </a:prstGeom>
          <a:solidFill>
            <a:srgbClr val="1E293B"/>
          </a:solidFill>
          <a:ln w="2286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91072" y="1280160"/>
            <a:ext cx="594360" cy="5943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4B4"/>
                </a:solidFill>
                <a:latin typeface="Segoe UI Emoji"/>
              </a:rPr>
              <a:t>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2527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4"/>
                </a:solidFill>
                <a:latin typeface="Calibri"/>
              </a:rPr>
              <a:t>Tác động sâu sắc của COVID-19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2736" y="2056374"/>
            <a:ext cx="5102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Đại dịch 2020 gây sụt giảm hành khách -63.21% – cơ hội nghiên cứu hành vi di chuyển đô thị trên quy mô lớn.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46120"/>
            <a:ext cx="5394960" cy="2011680"/>
          </a:xfrm>
          <a:prstGeom prst="rect">
            <a:avLst/>
          </a:prstGeom>
          <a:solidFill>
            <a:srgbClr val="1E293B"/>
          </a:solidFill>
          <a:ln w="2286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8912" y="3474720"/>
            <a:ext cx="594360" cy="5943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" y="3502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4B4"/>
                </a:solidFill>
                <a:latin typeface="Segoe UI Emoji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472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4"/>
                </a:solidFill>
                <a:latin typeface="Calibri"/>
              </a:rPr>
              <a:t>Kết hợp Không gian &amp; Thời gian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959352"/>
            <a:ext cx="5102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Phân tích đồng thời tọa độ địa lý và xu hướng theo thời gian → bức tranh toàn diện về hoạt động đô thị.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46120"/>
            <a:ext cx="5394960" cy="2011680"/>
          </a:xfrm>
          <a:prstGeom prst="rect">
            <a:avLst/>
          </a:prstGeom>
          <a:solidFill>
            <a:srgbClr val="1E293B"/>
          </a:solidFill>
          <a:ln w="2286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91072" y="3474720"/>
            <a:ext cx="594360" cy="5943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0216" y="3502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4B4"/>
                </a:solidFill>
                <a:latin typeface="Segoe UI Emoji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4472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4"/>
                </a:solidFill>
                <a:latin typeface="Calibri"/>
              </a:rPr>
              <a:t>Giá trị thực tiễn 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959352"/>
            <a:ext cx="5102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Hỗ trợ TfL tối ưu phân bổ nguồn lực, lập kế hoạch phục hồi và hoạch định chính sách giao thông dài hạn.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9242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BỘ DỮ LIỆU SỬ DỤNG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051560"/>
            <a:ext cx="3749039" cy="3371972"/>
          </a:xfrm>
          <a:prstGeom prst="rect">
            <a:avLst/>
          </a:prstGeom>
          <a:solidFill>
            <a:srgbClr val="FFFFFF"/>
          </a:solidFill>
          <a:ln w="25400">
            <a:solidFill>
              <a:srgbClr val="069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19855" y="1161288"/>
            <a:ext cx="502920" cy="502920"/>
          </a:xfrm>
          <a:prstGeom prst="ellipse">
            <a:avLst/>
          </a:prstGeom>
          <a:solidFill>
            <a:srgbClr val="06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8999" y="118872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2971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stations.kml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73352"/>
            <a:ext cx="3419855" cy="274320"/>
          </a:xfrm>
          <a:prstGeom prst="rect">
            <a:avLst/>
          </a:prstGeom>
          <a:solidFill>
            <a:srgbClr val="06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673352"/>
            <a:ext cx="341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Dữ liệu địa lý (KML)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3419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4E68"/>
                </a:solidFill>
                <a:latin typeface="Calibri"/>
              </a:rPr>
              <a:t>File KML từ Google Maps chứa tọa độ địa lý của các nhà ga TfL.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79"/>
            <a:ext cx="34198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44952"/>
            <a:ext cx="34198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📍 Tên ga (name)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🌐 Kinh độ / Vĩ độ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📝 Mô tả HTML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📋 ~298 điểm địa lý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5" y="1051560"/>
            <a:ext cx="3749039" cy="3371972"/>
          </a:xfrm>
          <a:prstGeom prst="rect">
            <a:avLst/>
          </a:prstGeom>
          <a:solidFill>
            <a:srgbClr val="FFFFFF"/>
          </a:solidFill>
          <a:ln w="25400">
            <a:solidFill>
              <a:srgbClr val="29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70062" y="1161288"/>
            <a:ext cx="502920" cy="502920"/>
          </a:xfrm>
          <a:prstGeom prst="ellipse">
            <a:avLst/>
          </a:prstGeom>
          <a:solidFill>
            <a:srgbClr val="29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79206" y="118872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7" y="1188720"/>
            <a:ext cx="2971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TfL_stations.csv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7" y="1673352"/>
            <a:ext cx="3419855" cy="274320"/>
          </a:xfrm>
          <a:prstGeom prst="rect">
            <a:avLst/>
          </a:prstGeom>
          <a:solidFill>
            <a:srgbClr val="29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25695" y="1673352"/>
            <a:ext cx="341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Dữ liệu hành khách (CSV)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2057400"/>
            <a:ext cx="3419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4E68"/>
                </a:solidFill>
                <a:latin typeface="Calibri"/>
              </a:rPr>
              <a:t>Dữ liệu lưu lượng hành khách hàng năm do TfL công bố chính thức.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7" y="2926079"/>
            <a:ext cx="34198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7407" y="3044952"/>
            <a:ext cx="34198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🚉 Tên ga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📊 Lượt vào/ra 2017-2021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🏙️ Borough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📋 ~588 bản ghi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3022" y="1051560"/>
            <a:ext cx="3749039" cy="3371972"/>
          </a:xfrm>
          <a:prstGeom prst="rect">
            <a:avLst/>
          </a:prstGeom>
          <a:solidFill>
            <a:srgbClr val="FFFFFF"/>
          </a:solidFill>
          <a:ln w="25400">
            <a:solidFill>
              <a:srgbClr val="764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320269" y="1161288"/>
            <a:ext cx="502920" cy="502920"/>
          </a:xfrm>
          <a:prstGeom prst="ellipse">
            <a:avLst/>
          </a:prstGeom>
          <a:solidFill>
            <a:srgbClr val="764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329413" y="118872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4" y="1188720"/>
            <a:ext cx="2971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Stops.csv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7614" y="1673352"/>
            <a:ext cx="3419855" cy="274320"/>
          </a:xfrm>
          <a:prstGeom prst="rect">
            <a:avLst/>
          </a:prstGeom>
          <a:solidFill>
            <a:srgbClr val="764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75902" y="1673352"/>
            <a:ext cx="341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Dữ liệu tuyến dừng (CSV)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4" y="2057400"/>
            <a:ext cx="3419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4E68"/>
                </a:solidFill>
                <a:latin typeface="Calibri"/>
              </a:rPr>
              <a:t>Dữ liệu điểm dừng từ hệ thống lên kế hoạch chuyến đi của TfL.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4" y="2926079"/>
            <a:ext cx="341985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57614" y="3044952"/>
            <a:ext cx="34198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🔑 ATCOCode / CommonName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🌐 Tọa độ bổ sung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🚌 Loại phương tiện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📋 ~101MB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0137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THÁCH THỨC DỮ LIỆU THÔ &amp; GIẢI PHÁP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349240" cy="5394960"/>
          </a:xfrm>
          <a:prstGeom prst="rect">
            <a:avLst/>
          </a:prstGeom>
          <a:solidFill>
            <a:srgbClr val="1E1E2E"/>
          </a:solidFill>
          <a:ln w="25400">
            <a:solidFill>
              <a:srgbClr val="DC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143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⚠️  THÁCH THỨC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600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A5"/>
                </a:solidFill>
                <a:latin typeface="Calibri"/>
              </a:rPr>
              <a:t>❌  Tên ga không đồng nhất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874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"King's Cross" vs "Kings Cross" vs "King'S Cross St. Pancras" – không thể join trực tiếp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450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A5"/>
                </a:solidFill>
                <a:latin typeface="Calibri"/>
              </a:rPr>
              <a:t>❌  File Stops.csv kích thước lớn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~101MB với &gt;500,000 dòng – cần tối ưu bộ nhớ, đọc theo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3009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A5"/>
                </a:solidFill>
                <a:latin typeface="Calibri"/>
              </a:rPr>
              <a:t>❌  Thiếu thông tin Borough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5753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Nhiều bản ghi KML không có Borough → cần suy luận từ tọa độ địa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1513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A5"/>
                </a:solidFill>
                <a:latin typeface="Calibri"/>
              </a:rPr>
              <a:t>❌  Dữ liệu hành khách trống/lỗi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4256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Năm đặc biệt 2020 có giá trị bất thường cần xử lý cẩn thận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001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A5"/>
                </a:solidFill>
                <a:latin typeface="Calibri"/>
              </a:rPr>
              <a:t>❌  Định dạng dữ liệu không đồng nhất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2760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CSV, KML, database – mỗi định dạng cần parser riêng biệt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8" y="32004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4B4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051560"/>
            <a:ext cx="5349240" cy="5394960"/>
          </a:xfrm>
          <a:prstGeom prst="rect">
            <a:avLst/>
          </a:prstGeom>
          <a:solidFill>
            <a:srgbClr val="0D1F1D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6832" y="1143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B4"/>
                </a:solidFill>
                <a:latin typeface="Calibri"/>
              </a:rPr>
              <a:t>✅  GIẢI PHÁP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1600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✅  Regex Master 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1874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Áp dụng 50+ quy tắc regex chuẩn hóa tên ga: viết thường, loại dấu, alias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450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✅  Đọc file theo Chunk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pandas read_csv với chunksize=50,000 → xử lý 500K+ dòng mà không tràn 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3009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✅  Spatial Join Nearest Neighbor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35753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GeoPandas sjoin_nearest() gán Borough dựa trên polygon địa giới hành chính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1513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✅  Logic Fuzzy + Priority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4256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Ưu tiên match chính xác &gt; partial &gt; fuzzy với ngưỡng similarity ≥ 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001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✅  Validation &amp; Logging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2760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   Ghi log toàn bộ ga không khớp vào unmatched_stations_log.pdf để kiểm 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0585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KIẾN TRÚC PIPELINE ETL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640" y="1752900"/>
            <a:ext cx="2724560" cy="2508565"/>
          </a:xfrm>
          <a:prstGeom prst="rect">
            <a:avLst/>
          </a:prstGeom>
          <a:solidFill>
            <a:srgbClr val="FFFFFF"/>
          </a:solidFill>
          <a:ln w="25400">
            <a:solidFill>
              <a:srgbClr val="069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3240" y="1700867"/>
            <a:ext cx="2651760" cy="777240"/>
          </a:xfrm>
          <a:prstGeom prst="rect">
            <a:avLst/>
          </a:prstGeom>
          <a:solidFill>
            <a:srgbClr val="06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968" y="17557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600" y="184717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3520" y="17557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832" y="2569547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stations.kml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TfL_stations.csv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Stops.csv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Parser KML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Pandas read_csv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1976" y="2800811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9588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3600" y="1752900"/>
            <a:ext cx="2682960" cy="2508565"/>
          </a:xfrm>
          <a:prstGeom prst="rect">
            <a:avLst/>
          </a:prstGeom>
          <a:solidFill>
            <a:srgbClr val="FFFFFF"/>
          </a:solidFill>
          <a:ln w="25400">
            <a:solidFill>
              <a:srgbClr val="29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83600" y="1700867"/>
            <a:ext cx="2651760" cy="777240"/>
          </a:xfrm>
          <a:prstGeom prst="rect">
            <a:avLst/>
          </a:prstGeom>
          <a:solidFill>
            <a:srgbClr val="29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3328" y="17557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960" y="184717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3880" y="17557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192" y="2569547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Regex Normalize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Borough Spatial Join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Feature Engineering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COVID Impact Calc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Trend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2336" y="2800811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78C8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960" y="1752900"/>
            <a:ext cx="2682960" cy="2508565"/>
          </a:xfrm>
          <a:prstGeom prst="rect">
            <a:avLst/>
          </a:prstGeom>
          <a:solidFill>
            <a:srgbClr val="FFFFFF"/>
          </a:solidFill>
          <a:ln w="25400">
            <a:solidFill>
              <a:srgbClr val="7644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3960" y="1700867"/>
            <a:ext cx="2651760" cy="777240"/>
          </a:xfrm>
          <a:prstGeom prst="rect">
            <a:avLst/>
          </a:prstGeom>
          <a:solidFill>
            <a:srgbClr val="764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3688" y="17557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8320" y="184717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240" y="17557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8552" y="2569547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SQLite Database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london_tfl.db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298 bản ghi sạch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london_tfl_cleaned.csv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Excel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2696" y="2800811"/>
            <a:ext cx="18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644C2"/>
                </a:solidFill>
                <a:latin typeface="Calibr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4320" y="1752900"/>
            <a:ext cx="2703760" cy="2508565"/>
          </a:xfrm>
          <a:prstGeom prst="rect">
            <a:avLst/>
          </a:prstGeom>
          <a:solidFill>
            <a:srgbClr val="FFFFFF"/>
          </a:solidFill>
          <a:ln w="25400">
            <a:solidFill>
              <a:srgbClr val="F0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44320" y="1700867"/>
            <a:ext cx="2651760" cy="777240"/>
          </a:xfrm>
          <a:prstGeom prst="rect">
            <a:avLst/>
          </a:prstGeom>
          <a:solidFill>
            <a:srgbClr val="F07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54048" y="175573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8680" y="184717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84600" y="175573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912" y="2569547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KMeans K=6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Folium Map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Biểu đồ xu hướng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Báo cáo PDF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F172A"/>
                </a:solidFill>
                <a:latin typeface="Calibri"/>
              </a:rPr>
              <a:t>▶  Flask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008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4E68"/>
                </a:solidFill>
                <a:latin typeface="Calibri"/>
              </a:rPr>
              <a:t>🔧  Tech Stack:  Python 3.x  |  Pandas  |  GeoPandas  |  Scikit-learn  |  Folium  |  SQLite  |  Matplotlib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2375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ĐỔI MỚI KỸ THUẬT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11475720" cy="1664208"/>
          </a:xfrm>
          <a:prstGeom prst="rect">
            <a:avLst/>
          </a:prstGeom>
          <a:solidFill>
            <a:srgbClr val="1E293B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82296" cy="16642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4B4"/>
                </a:solidFill>
                <a:latin typeface="Segoe UI Emoji"/>
              </a:rP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61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4"/>
                </a:solidFill>
                <a:latin typeface="Calibri"/>
              </a:rPr>
              <a:t>Chuẩn hóa Tên Ga bằng 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50+ quy tắc regex xử lý viết tắt, dấu câu, dấu apostrophe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Alias mapping: 'Heathrow T123' → 'Heathrow Terminals'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396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Unicode normalization &amp; lowercase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1396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Tỷ lệ match: &gt;95% tên ga được ghép thành công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07792"/>
            <a:ext cx="11475720" cy="1664208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907792"/>
            <a:ext cx="82296" cy="16642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108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38BDF8"/>
                </a:solidFill>
                <a:latin typeface="Segoe UI Emoj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Gán Borough bằng Spatial 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66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▸  Pandas + NumPy Euclidean Nearest Neighbor – không cần GeoPandas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566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Ranh giới hành chính 32 Borough + City of London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684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Bổ sung Borough cho 100% bản ghi thiếu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684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▸  Ưu tiên StopType (MET &gt; RLY &gt; DLR) + khoảng cách tọa độ gần nhất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736592"/>
            <a:ext cx="11475720" cy="1664208"/>
          </a:xfrm>
          <a:prstGeom prst="rect">
            <a:avLst/>
          </a:prstGeom>
          <a:solidFill>
            <a:srgbClr val="1E293B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4736592"/>
            <a:ext cx="82296" cy="16642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937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C107"/>
                </a:solidFill>
                <a:latin typeface="Segoe UI Emoji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19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  <a:latin typeface="Calibri"/>
              </a:rPr>
              <a:t>Feature Engineering Nâng cao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covid_impact_pct: Mức sụt giảm 2019→2020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94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recovery_pct: Mức phục hồi 2020→2021 (%)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7972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avg_passengers: Trung bình 5 năm cho clustering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972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▸  trend_label: Phân loại xu hướng (Giảm mạnh/nhẹ/Tăng/Ổn định)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0137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PHÂN CỤM KMEANS  (K = 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1572768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170432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4B4"/>
                </a:solidFill>
                <a:latin typeface="Calibri"/>
              </a:rPr>
              <a:t>Cụm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5376" y="1078992"/>
            <a:ext cx="77724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11704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4B4"/>
                </a:solidFill>
                <a:latin typeface="Calibri"/>
              </a:rPr>
              <a:t>Số 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2616" y="1078992"/>
            <a:ext cx="11430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17043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4B4"/>
                </a:solidFill>
                <a:latin typeface="Calibri"/>
              </a:rPr>
              <a:t>Khách TB 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5616" y="1078992"/>
            <a:ext cx="11430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117043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4B4"/>
                </a:solidFill>
                <a:latin typeface="Calibri"/>
              </a:rPr>
              <a:t>COVID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1078992"/>
            <a:ext cx="53035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117043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2608" y="1554480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" y="1709928"/>
            <a:ext cx="146304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645920"/>
            <a:ext cx="1252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Siêu trung tâm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5376" y="1554480"/>
            <a:ext cx="777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240" y="164592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8 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42616" y="1554480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80" y="164592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37.32M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85616" y="1554480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0" y="164592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-73.70%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28616" y="1554480"/>
            <a:ext cx="530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164592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2608" y="2029968"/>
            <a:ext cx="157276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5760" y="2185416"/>
            <a:ext cx="146304" cy="164592"/>
          </a:xfrm>
          <a:prstGeom prst="ellipse">
            <a:avLst/>
          </a:prstGeom>
          <a:solidFill>
            <a:srgbClr val="38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121408"/>
            <a:ext cx="1252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Ga lớn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65376" y="2029968"/>
            <a:ext cx="777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20240" y="212140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42 ga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42616" y="2029968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97480" y="212140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11.27M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85616" y="2029968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0" y="212140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-63.47%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28616" y="2029968"/>
            <a:ext cx="53035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83480" y="2121408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92608" y="250545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65760" y="2660904"/>
            <a:ext cx="146304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2596896"/>
            <a:ext cx="1252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Ga trung bình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65376" y="2505456"/>
            <a:ext cx="777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20240" y="259689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78 ga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42616" y="2505456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97480" y="259689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3.14M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85616" y="2505456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40480" y="259689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-54.91%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28616" y="2505456"/>
            <a:ext cx="530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3480" y="2596896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2608" y="2980944"/>
            <a:ext cx="157276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65760" y="3136392"/>
            <a:ext cx="146304" cy="16459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3072384"/>
            <a:ext cx="1252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Ga nhỏ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65376" y="2980944"/>
            <a:ext cx="777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920240" y="3072384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80 ga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42616" y="2980944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97480" y="30723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2.83M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85616" y="2980944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40480" y="30723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-57.42%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28616" y="2980944"/>
            <a:ext cx="53035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83480" y="307238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92608" y="3456432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65760" y="3611880"/>
            <a:ext cx="146304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" y="3547872"/>
            <a:ext cx="1252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Ga ít khách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65376" y="3456432"/>
            <a:ext cx="777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920240" y="354787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37 ga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42616" y="3456432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54787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2.22M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85616" y="3456432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40480" y="354787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-49.69%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28616" y="3456432"/>
            <a:ext cx="530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83480" y="3547872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92608" y="3931920"/>
            <a:ext cx="157276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65760" y="4087368"/>
            <a:ext cx="146304" cy="16459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66928" y="4023360"/>
            <a:ext cx="1252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Ga rất ít khách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65376" y="3931920"/>
            <a:ext cx="7772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920240" y="402336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53 ga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42616" y="3931920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697480" y="40233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1.63M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85616" y="3931920"/>
            <a:ext cx="1143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840480" y="402336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-41.42%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28616" y="3931920"/>
            <a:ext cx="53035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83480" y="402336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92608" y="449884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E68"/>
                </a:solidFill>
                <a:latin typeface="Calibri"/>
              </a:rPr>
              <a:t>📐  Features: passengers_2021, num_lines, lat, lon  |  StandardScaler → KMeans (sklearn)  |  Elbow Method → K=6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1078992"/>
            <a:ext cx="6199632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833872" y="111556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E68"/>
                </a:solidFill>
                <a:latin typeface="Calibri"/>
              </a:rPr>
              <a:t>Biểu đồ so sánh theo Cụm</a:t>
            </a:r>
          </a:p>
        </p:txBody>
      </p:sp>
      <p:pic>
        <p:nvPicPr>
          <p:cNvPr id="88" name="Picture 87" descr="chart_clust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1389888"/>
            <a:ext cx="6163056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737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PHÂN TÍCH TÁC ĐỘNG COVID-19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7498079" cy="5376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hart_passenge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97280"/>
            <a:ext cx="7461504" cy="5340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B4"/>
                </a:solidFill>
                <a:latin typeface="Calibri"/>
              </a:rPr>
              <a:t>📊  SỐ LIỆU CHÍNH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600200"/>
            <a:ext cx="3858768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67335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3.28 Tỷ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Tổng hành khách 2019
(Cao nhất 5 năm)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697480"/>
            <a:ext cx="3858768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7706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6B"/>
                </a:solidFill>
                <a:latin typeface="Calibri"/>
              </a:rPr>
              <a:t>-63.21%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46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Sụt giảm 2019→2020
(Tác động COVID)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3858768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FF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867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A5A5"/>
                </a:solidFill>
                <a:latin typeface="Calibri"/>
              </a:rPr>
              <a:t>1.21 Tỷ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3434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Tổng hành khách 2020
(Thấp nhất lịch sử)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1400" y="4892040"/>
            <a:ext cx="3837968" cy="826402"/>
          </a:xfrm>
          <a:prstGeom prst="rect">
            <a:avLst/>
          </a:prstGeom>
          <a:solidFill>
            <a:srgbClr val="1E293B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96519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EE7B7"/>
                </a:solidFill>
                <a:latin typeface="Calibri"/>
              </a:rPr>
              <a:t>+16.82%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440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Phục hồi 2020→2021</a:t>
            </a:r>
          </a:p>
        </p:txBody>
      </p: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3A62C242-D7D6-446B-E1B1-9352F9DE185A}"/>
              </a:ext>
            </a:extLst>
          </p:cNvPr>
          <p:cNvGrpSpPr/>
          <p:nvPr/>
        </p:nvGrpSpPr>
        <p:grpSpPr>
          <a:xfrm>
            <a:off x="8010552" y="5813279"/>
            <a:ext cx="3844395" cy="640080"/>
            <a:chOff x="8010552" y="6021413"/>
            <a:chExt cx="3844395" cy="640080"/>
          </a:xfrm>
        </p:grpSpPr>
        <p:sp>
          <p:nvSpPr>
            <p:cNvPr id="24" name="Rectangle 23"/>
            <p:cNvSpPr/>
            <p:nvPr/>
          </p:nvSpPr>
          <p:spPr>
            <a:xfrm>
              <a:off x="8010552" y="6033202"/>
              <a:ext cx="3844395" cy="473994"/>
            </a:xfrm>
            <a:prstGeom prst="rect">
              <a:avLst/>
            </a:prstGeom>
            <a:solidFill>
              <a:srgbClr val="0D1F1D"/>
            </a:solidFill>
            <a:ln w="15240">
              <a:solidFill>
                <a:srgbClr val="00C4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147712" y="6021413"/>
              <a:ext cx="356616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1">
                  <a:solidFill>
                    <a:srgbClr val="00C4B4"/>
                  </a:solidFill>
                  <a:latin typeface="Calibri"/>
                </a:rPr>
                <a:t>💡  287/298 ga có xu hướng
giảm mạnh – chỉ 1 ga tăng trưởng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7899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KẾT QUẢ NỔI BẬT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743200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170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4B4"/>
                </a:solidFill>
                <a:latin typeface="Segoe UI Emoji"/>
              </a:rPr>
              <a:t>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1521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B4"/>
                </a:solidFill>
                <a:latin typeface="Calibri"/>
              </a:rPr>
              <a:t>298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Nhà ga phân tích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78992"/>
            <a:ext cx="2743200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170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4B4"/>
                </a:solidFill>
                <a:latin typeface="Segoe UI Emoj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1521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B4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Cụm hành 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78992"/>
            <a:ext cx="2743200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170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6B6B"/>
                </a:solidFill>
                <a:latin typeface="Segoe UI Emoji"/>
              </a:rPr>
              <a:t>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1521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  <a:latin typeface="Calibri"/>
              </a:rPr>
              <a:t>-63.21%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Sụt giảm COVID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078992"/>
            <a:ext cx="2743200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170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4B4"/>
                </a:solidFill>
                <a:latin typeface="Segoe UI Emoj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15214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B4"/>
                </a:solidFill>
                <a:latin typeface="Calibri"/>
              </a:rPr>
              <a:t>+16.82%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Phục hồi 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240280"/>
            <a:ext cx="566928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" y="2331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🏆  TOP 5 GA ĐÔNG KHÁCH NHẤT (2021)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78892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788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Stratford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2852928"/>
            <a:ext cx="3108960" cy="21945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278892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63.4M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4728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47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Liverpool Street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511296"/>
            <a:ext cx="2704795" cy="21945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85155" y="34472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43.1M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05656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1056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King's Cross St. Pancras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169664"/>
            <a:ext cx="2580436" cy="21945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60796" y="410565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36.7M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64024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7640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Victoria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4828032"/>
            <a:ext cx="2487168" cy="21945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67528" y="47640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33.5M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42239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422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Oxford Circus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5486400"/>
            <a:ext cx="2393899" cy="21945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74259" y="54223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32.9M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2240280"/>
            <a:ext cx="5650992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331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📊  PHÂN BỐ THEO CỤM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27889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Siêu trung tâm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5008" y="2834640"/>
            <a:ext cx="85916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05788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792" y="33558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Ga lớn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3401568"/>
            <a:ext cx="451063" cy="201168"/>
          </a:xfrm>
          <a:prstGeom prst="rect">
            <a:avLst/>
          </a:prstGeom>
          <a:solidFill>
            <a:srgbClr val="38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70935" y="3355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392277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Ga trung bình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65008" y="3968496"/>
            <a:ext cx="837688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57560" y="39227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78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448970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Ga nhỏ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535424"/>
            <a:ext cx="859167" cy="2011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79039" y="44897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50566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Ga ít khách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65008" y="5102352"/>
            <a:ext cx="39736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17237" y="5056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37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623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Ga rất ít khách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5669280"/>
            <a:ext cx="569198" cy="201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9070" y="5623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8347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SẢN PHẨM &amp; TRỰC QUAN HÓA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5532120" cy="2331720"/>
          </a:xfrm>
          <a:prstGeom prst="rect">
            <a:avLst/>
          </a:prstGeom>
          <a:solidFill>
            <a:srgbClr val="1E293B"/>
          </a:solidFill>
          <a:ln w="2286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078992"/>
            <a:ext cx="73152" cy="2331720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2435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4B4"/>
                </a:solidFill>
                <a:latin typeface="Segoe UI Emoji"/>
              </a:rP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1887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B4"/>
                </a:solidFill>
                <a:latin typeface="Calibri"/>
              </a:rPr>
              <a:t>Bản đồ Tương tác Folium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15361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📁  london_tfl_map.html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901952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298 marker nhà ga với popup thông tin đầy đủ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Color-coded theo Cluster (6 màu phân biệt)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Hover hiển thị: tên ga, Borough, lượng khách 2021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Zoom tương tác – chạy trực tiếp trên trình duyệt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3843" y="3583225"/>
            <a:ext cx="5532120" cy="2331720"/>
          </a:xfrm>
          <a:prstGeom prst="rect">
            <a:avLst/>
          </a:prstGeom>
          <a:solidFill>
            <a:srgbClr val="1E293B"/>
          </a:solidFill>
          <a:ln w="228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53843" y="3583225"/>
            <a:ext cx="73152" cy="2331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36723" y="374781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C107"/>
                </a:solidFill>
                <a:latin typeface="Segoe UI Emoj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1083" y="369295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SQLite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1083" y="4040425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📁  london_tfl.db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6723" y="4406185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Lưu trữ 298 bản ghi sạch hoàn chỉnh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Schema: station_id, name, borough, coordinates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Passenger data 2017-2021 + cluster labels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Hỗ trợ truy vấn SQL trực tiếp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9004" y="1080724"/>
            <a:ext cx="5532120" cy="2331720"/>
          </a:xfrm>
          <a:prstGeom prst="rect">
            <a:avLst/>
          </a:prstGeom>
          <a:solidFill>
            <a:srgbClr val="1E293B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9004" y="1080724"/>
            <a:ext cx="73152" cy="2331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1884" y="12453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2C55E"/>
                </a:solidFill>
                <a:latin typeface="Segoe UI Emoji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6244" y="11904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Excel / CSV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6244" y="15379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📁  london_tfl_results.xlsx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1884" y="1903684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london_tfl_cleaned.csv – dữ liệu sạch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london_tfl_results.xlsx – kết quả đầy đủ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Sẵn sàng import vào Power BI, Tableau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BD5E1"/>
                </a:solidFill>
                <a:latin typeface="Calibri"/>
              </a:rPr>
              <a:t>▸  Unmatched log PDF cho kiểm tra chất lượng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88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9242" y="253001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Nhóm 14 – DHKHDL20A  |  GVHD: TS. Lê Trọng Ngọc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078992"/>
            <a:ext cx="5394960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4B4"/>
                </a:solidFill>
                <a:latin typeface="Calibri"/>
              </a:rPr>
              <a:t>✅  KẾT QUẢ ĐẠT ĐƯỢC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5029200" cy="749808"/>
          </a:xfrm>
          <a:prstGeom prst="rect">
            <a:avLst/>
          </a:prstGeom>
          <a:solidFill>
            <a:srgbClr val="F8FFFE"/>
          </a:solidFill>
          <a:ln w="12700">
            <a:solidFill>
              <a:srgbClr val="E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4B4"/>
                </a:solidFill>
                <a:latin typeface="Segoe UI Emoji"/>
              </a:rP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7373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Pipeline ETL hoàn chỉnh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Tự động hóa toàn bộ Extract→Transform→Load→Serve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32888"/>
            <a:ext cx="5029200" cy="749808"/>
          </a:xfrm>
          <a:prstGeom prst="rect">
            <a:avLst/>
          </a:prstGeom>
          <a:solidFill>
            <a:srgbClr val="F8FFFE"/>
          </a:solidFill>
          <a:ln w="12700">
            <a:solidFill>
              <a:srgbClr val="E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642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4B4"/>
                </a:solidFill>
                <a:latin typeface="Segoe UI Emoji"/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6060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Dữ liệu sạch &amp; chuẩn hóa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89864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298 ga với đầy đủ tọa độ, Borough, lưu lượng 5 năm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01568"/>
            <a:ext cx="5029200" cy="749808"/>
          </a:xfrm>
          <a:prstGeom prst="rect">
            <a:avLst/>
          </a:prstGeom>
          <a:solidFill>
            <a:srgbClr val="F8FFFE"/>
          </a:solidFill>
          <a:ln w="12700">
            <a:solidFill>
              <a:srgbClr val="E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511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4B4"/>
                </a:solidFill>
                <a:latin typeface="Segoe UI Emoj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4747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Phân cụm KMeans K=6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76732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Phân loại hành vi 298 ga, xác định cluster Siêu trung tâm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0248"/>
            <a:ext cx="5029200" cy="749808"/>
          </a:xfrm>
          <a:prstGeom prst="rect">
            <a:avLst/>
          </a:prstGeom>
          <a:solidFill>
            <a:srgbClr val="F8FFFE"/>
          </a:solidFill>
          <a:ln w="12700">
            <a:solidFill>
              <a:srgbClr val="E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3799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4B4"/>
                </a:solidFill>
                <a:latin typeface="Segoe UI Emoji"/>
              </a:rPr>
              <a:t>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3434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Phân tích COVID-19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63600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Định lượng mức sụt giảm -63.21% và phục hồi +16.82%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38928"/>
            <a:ext cx="5029200" cy="749808"/>
          </a:xfrm>
          <a:prstGeom prst="rect">
            <a:avLst/>
          </a:prstGeom>
          <a:solidFill>
            <a:srgbClr val="F8FFFE"/>
          </a:solidFill>
          <a:ln w="12700">
            <a:solidFill>
              <a:srgbClr val="E0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2486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4B4"/>
                </a:solidFill>
                <a:latin typeface="Segoe UI Emoji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2120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Trực quan hóa tương tác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50468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Bản đồ Folium, biểu đồ và báo cáo PDF tự động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70448" y="1078992"/>
            <a:ext cx="5943600" cy="5376672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🚀  HƯỚNG PHÁT TRIỂN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6642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🔤  Fuzzy Matching nâng cao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193852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Áp dụng RapidFuzz / FuzzyWuzzy để cải thiện match rate tên 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4871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⚡  Apache Kafka Streaming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76148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Xử lý dữ liệu thời gian thực thay vì batch 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3101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🌊  Apache Airflow Orchestration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58444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Lên lịch tự động, monitoring pipeline với DAG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13308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☁️  Cloud Migration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40740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Chuyển lên AWS S3 + Redshift hoặc GCP BigQuery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95604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🤖  Machine Learning nâng cao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23036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Dự báo lưu lượng, phát hiện bất thường (LSTM, Prophet)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7790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4B4"/>
                </a:solidFill>
                <a:latin typeface="Calibri"/>
              </a:rPr>
              <a:t>📱  Dashboard Real-time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6053328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Power BI / Grafana cho giám sát vận hành liên tục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0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A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1828800" cy="1828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CẢM ƠN QUÝ THẦY CÔ &amp; CÁC BẠN ĐÃ LẮNG NGHE!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148840"/>
            <a:ext cx="3044952" cy="64008"/>
          </a:xfrm>
          <a:prstGeom prst="rect">
            <a:avLst/>
          </a:prstGeom>
          <a:solidFill>
            <a:srgbClr val="0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4B4"/>
                </a:solidFill>
                <a:latin typeface="Calibri"/>
              </a:rPr>
              <a:t>❓  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  <a:latin typeface="Calibri"/>
              </a:rPr>
              <a:t>Xin mời thầy cô và các bạn đặt câu hỏi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429000"/>
            <a:ext cx="9445752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10725912" cy="2606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4B4"/>
                </a:solidFill>
                <a:latin typeface="Calibri"/>
              </a:rPr>
              <a:t>THÔNG TIN NHÓM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87952"/>
            <a:ext cx="9445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👥   Nhóm 14  |  Lớp DHKHDL20A  |  Khoa Khoa học Dữ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9445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👨‍🏫   Giảng viên hướng dẫn: TS. Lê Trọng Ngọc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56048"/>
            <a:ext cx="9445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📚   Môn học: Data Engineering  |  Học kỳ 2, Năm học 2024–2025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40096"/>
            <a:ext cx="9445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🔗   Dự án: Pipeline ETL End-to-End – Hệ thống TfL London (298 nhà 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Tùy chỉnh</PresentationFormat>
  <Paragraphs>0</Paragraphs>
  <Slides>13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4" baseType="lpstr"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92</cp:revision>
  <dcterms:created xsi:type="dcterms:W3CDTF">2013-01-27T09:14:16Z</dcterms:created>
  <dcterms:modified xsi:type="dcterms:W3CDTF">2026-05-27T17:38:21Z</dcterms:modified>
  <cp:category/>
</cp:coreProperties>
</file>